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seconds. Say the one-liner and move. Do NOT read the slide.</a:t>
            </a:r>
          </a:p>
          <a:p/>
          <a:p>
            <a:r>
              <a:t>BEFORE YOU START: open the app and ask one question ~2 min before going on stage. Free tier sleeps after 15 min idle and the first request takes 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seconds. The 91,000 figure is the hook — let it land before speaking.</a:t>
            </a:r>
          </a:p>
          <a:p/>
          <a:p>
            <a:r>
              <a:t>Source: FTA, 14 May 2026. 651,000 CT registrants and 806 agents: FTA via Gulf News, Sept 2025.</a:t>
            </a:r>
          </a:p>
          <a:p/>
          <a:p>
            <a:r>
              <a:t>The point: this is not a niche annoyance. It is a national-scale compliance gap with no affordable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seconds. Three things, then straight into the demo.</a:t>
            </a:r>
          </a:p>
          <a:p/>
          <a:p>
            <a:r>
              <a:t>Do not oversell. The scope line at the bottom matters — say it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75 seconds.</a:t>
            </a:r>
          </a:p>
          <a:p/>
          <a:p>
            <a:r>
              <a:t>USE THIS QUESTION — measured at 13.5s on 28 Jul. Other safe fast ones:</a:t>
            </a:r>
          </a:p>
          <a:p>
            <a:r>
              <a:t>  • 'What is the standard rate of VAT in the UAE?' (7.2s)</a:t>
            </a:r>
          </a:p>
          <a:p>
            <a:r>
              <a:t>  • 'Which supplies are exempt from VAT in the UAE?' (13.5s)</a:t>
            </a:r>
          </a:p>
          <a:p>
            <a:r>
              <a:t>  • 'Within how many days must I issue a tax invoice?' (19.2s)</a:t>
            </a:r>
          </a:p>
          <a:p/>
          <a:p>
            <a:r>
              <a:t>AVOID the free-zone and dual-registration questions — those took 98s and 293s in testing.</a:t>
            </a:r>
          </a:p>
          <a:p/>
          <a:p>
            <a:r>
              <a:t>Click a citation chip and say: 'every answer is traceable — you can check our homework.' Then expand the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seconds. THIS IS THE SLIDE THAT WINS THE ROOM. Slow down.</a:t>
            </a:r>
          </a:p>
          <a:p/>
          <a:p>
            <a:r>
              <a:t>Run it live, let the refusal appear, pause, then give the Stanford number.</a:t>
            </a:r>
          </a:p>
          <a:p/>
          <a:p>
            <a:r>
              <a:t>⚠️ CHECK BEFORE THE DEMO: the 'Declined to guess' badge only renders if Nandita's abstention-flag fix has shipped. If it has NOT, the refusal shows as plain text — do not point at a badge that isn't there. Say the words instead: 'it refused, and it told you why.'</a:t>
            </a:r>
          </a:p>
          <a:p/>
          <a:p>
            <a:r>
              <a:t>Expect the follow-up: 'how do you know it refuses reliably?' Answer: we ran a 25-question internal QA set, human-verified against the primary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Use qa/invoices/invoice_3_desertrose_ERROR.png.</a:t>
            </a:r>
          </a:p>
          <a:p/>
          <a:p>
            <a:r>
              <a:t>Verified working end-to-end on 28 Jul: TRN, subtotal, VAT, total and all three line items extracted exactly, and the mismatch flagged.</a:t>
            </a:r>
          </a:p>
          <a:p/>
          <a:p>
            <a:r>
              <a:t>Extraction takes ~20-30s — keep talking while it runs.</a:t>
            </a:r>
          </a:p>
          <a:p/>
          <a:p>
            <a:r>
              <a:t>Line: 'the AI reads it, but arithmetic is done in Python. LLMs don't do maths here.'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seconds. The argument is positioning, not the price itself: we sit in a gap that exists because incumbents bundle bookkeeping, not law.</a:t>
            </a:r>
          </a:p>
          <a:p/>
          <a:p>
            <a:r>
              <a:t>If asked about cost to serve: roughly AED 1–3 per active user per month at our usage profile (Section 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seconds. Ministerial Decisions 243 &amp; 244 of 2025.</a:t>
            </a:r>
          </a:p>
          <a:p/>
          <a:p>
            <a:r>
              <a:t>The strategic point: our demand is regulation-driven, so its timing is unusually predictable. We are not guessing when the market arrives — it is written into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seconds. Counter-intuitive but this slide builds credibility with a Chief AI Officer — it pre-empts every 'but how do you know' question and shows we can tell evidence from assumption.</a:t>
            </a:r>
          </a:p>
          <a:p/>
          <a:p>
            <a:r>
              <a:t>It also matches the report exactly, so nothing contradicts under scrutiny.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seconds. End on the concrete next action, not a vision statement.</a:t>
            </a:r>
          </a:p>
          <a:p/>
          <a:p>
            <a:r>
              <a:t>If asked 'what would make you stop?' — the pilot failing to show repeat use or willingness to pay. That triggers the revise-and-retest path, and it is written into Section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line, then stop talking and take questions.</a:t>
            </a:r>
          </a:p>
          <a:p/>
          <a:p>
            <a:r>
              <a:t>LIKELY QUESTIONS:</a:t>
            </a:r>
          </a:p>
          <a:p>
            <a:r>
              <a:t>• Which model? Groq, openai/gpt-oss-120b for chat, llama-4-scout for vision. Provider-agnostic interface — switching is a config change.</a:t>
            </a:r>
          </a:p>
          <a:p>
            <a:r>
              <a:t>• How do you know it's accurate? 25-question internal QA set, expected answers verified by hand against the FTA PDFs. We report it as indicative, not audited.</a:t>
            </a:r>
          </a:p>
          <a:p>
            <a:r>
              <a:t>• What about guide citations? Known limitation — our chunker labels guide sections by article heading, which is imprecise for guides. Fix is scoped.</a:t>
            </a:r>
          </a:p>
          <a:p>
            <a:r>
              <a:t>• Why BM25 and not embeddings? Legal text is full of exact tokens; BM25 is strong, keyless and cheap. Hybrid retrieval is the v2 roadmap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ميزان  Mizan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0">
                <a:solidFill>
                  <a:srgbClr val="9EC5D4"/>
                </a:solidFill>
                <a:latin typeface="Segoe UI"/>
              </a:rPr>
              <a:t>An AI tax-compliance copilot for UAE SMEs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77639"/>
            <a:ext cx="2011680" cy="50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0">
                <a:solidFill>
                  <a:srgbClr val="9EC5D4"/>
                </a:solidFill>
                <a:latin typeface="Segoe UI"/>
              </a:rPr>
              <a:t>It cites the actual law — or it refuses to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6E8C9E"/>
                </a:solidFill>
                <a:latin typeface="Segoe UI"/>
              </a:rPr>
              <a:t>Nandita Menon  ·  Jillian  ·  Anushree Ashok      SP Jain MAIB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1">
                <a:solidFill>
                  <a:srgbClr val="1A5F7A"/>
                </a:solidFill>
                <a:latin typeface="Segoe U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828800" cy="50292"/>
          </a:xfrm>
          <a:prstGeom prst="rect">
            <a:avLst/>
          </a:prstGeom>
          <a:solidFill>
            <a:srgbClr val="1A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8800" b="1">
                <a:solidFill>
                  <a:srgbClr val="B45309"/>
                </a:solidFill>
                <a:latin typeface="Segoe UI"/>
              </a:rPr>
              <a:t>91,000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0F2A3D"/>
                </a:solidFill>
                <a:latin typeface="Segoe UI"/>
              </a:rPr>
              <a:t>UAE businesses needed the FTA's late-registration penalty waiver.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900">
                <a:solidFill>
                  <a:srgbClr val="5C6773"/>
                </a:solidFill>
                <a:latin typeface="Segoe UI"/>
              </a:rPr>
              <a:t>•   Corporate Tax is under three years old — 651,000 registrants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900">
                <a:solidFill>
                  <a:srgbClr val="5C6773"/>
                </a:solidFill>
                <a:latin typeface="Segoe UI"/>
              </a:rPr>
              <a:t>•   Only 806 registered tax agents to serve them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900">
                <a:solidFill>
                  <a:srgbClr val="5C6773"/>
                </a:solidFill>
                <a:latin typeface="Segoe UI"/>
              </a:rPr>
              <a:t>•   An accountant costs AED 800–3,000/month; a quick question can't wait two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1">
                <a:solidFill>
                  <a:srgbClr val="1A5F7A"/>
                </a:solidFill>
                <a:latin typeface="Segoe UI"/>
              </a:rPr>
              <a:t>What Mizan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828800" cy="50292"/>
          </a:xfrm>
          <a:prstGeom prst="rect">
            <a:avLst/>
          </a:prstGeom>
          <a:solidFill>
            <a:srgbClr val="1A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300" b="1">
                <a:solidFill>
                  <a:srgbClr val="0F2A3D"/>
                </a:solidFill>
                <a:latin typeface="Segoe UI"/>
              </a:rPr>
              <a:t>Answers with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5C6773"/>
                </a:solidFill>
                <a:latin typeface="Segoe UI"/>
              </a:rPr>
              <a:t>Every claim traced to an article of the actual FTA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94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300" b="1">
                <a:solidFill>
                  <a:srgbClr val="0F2A3D"/>
                </a:solidFill>
                <a:latin typeface="Segoe UI"/>
              </a:rPr>
              <a:t>Checks invoices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5C6773"/>
                </a:solidFill>
                <a:latin typeface="Segoe UI"/>
              </a:rPr>
              <a:t>Vision extraction plus a deterministic arithmetic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94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300" b="1">
                <a:solidFill>
                  <a:srgbClr val="0F2A3D"/>
                </a:solidFill>
                <a:latin typeface="Segoe UI"/>
              </a:rPr>
              <a:t>Refuses when unsure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9260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5C6773"/>
                </a:solidFill>
                <a:latin typeface="Segoe UI"/>
              </a:rPr>
              <a:t>Abstention is a first-class output, not a 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1A5F7A"/>
                </a:solidFill>
                <a:latin typeface="Segoe UI"/>
              </a:rPr>
              <a:t>Compliance assistance — not tax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9EC5D4"/>
                </a:solidFill>
                <a:latin typeface="Segoe UI"/>
              </a:rPr>
              <a:t>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Ask it a real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0">
                <a:solidFill>
                  <a:srgbClr val="9EC5D4"/>
                </a:solidFill>
                <a:latin typeface="Segoe UI"/>
              </a:rPr>
              <a:t>“What is the mandatory VAT registration threshold?”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2000">
                <a:solidFill>
                  <a:srgbClr val="FFFFFF"/>
                </a:solidFill>
                <a:latin typeface="Segoe UI"/>
              </a:rPr>
              <a:t>•   Answer arrives with [doc | Article N] citation chips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2000">
                <a:solidFill>
                  <a:srgbClr val="FFFFFF"/>
                </a:solidFill>
                <a:latin typeface="Segoe UI"/>
              </a:rPr>
              <a:t>•   Open the audit trail — every tool call the agent made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1">
                <a:solidFill>
                  <a:srgbClr val="1A5F7A"/>
                </a:solidFill>
                <a:latin typeface="Segoe UI"/>
              </a:rPr>
              <a:t>The moment that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828800" cy="50292"/>
          </a:xfrm>
          <a:prstGeom prst="rect">
            <a:avLst/>
          </a:prstGeom>
          <a:solidFill>
            <a:srgbClr val="1A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000" b="1">
                <a:solidFill>
                  <a:srgbClr val="0F2A3D"/>
                </a:solidFill>
                <a:latin typeface="Segoe UI"/>
              </a:rPr>
              <a:t>“What will the corporate tax rate be in 2030?”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0">
                <a:solidFill>
                  <a:srgbClr val="B45309"/>
                </a:solidFill>
                <a:latin typeface="Segoe UI"/>
              </a:rPr>
              <a:t>“I can't answer this reliably — this needs a tax professional.”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840480"/>
            <a:ext cx="10515600" cy="18288"/>
          </a:xfrm>
          <a:prstGeom prst="rect">
            <a:avLst/>
          </a:prstGeom>
          <a:solidFill>
            <a:srgbClr val="E0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200" b="1">
                <a:solidFill>
                  <a:srgbClr val="0F2A3D"/>
                </a:solidFill>
                <a:latin typeface="Segoe UI"/>
              </a:rPr>
              <a:t>Purpose-built legal AI tools hallucinate 17–33% of the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5C6773"/>
                </a:solidFill>
                <a:latin typeface="Segoe UI"/>
              </a:rPr>
              <a:t>LexisNexis ~17%  ·  Thomson Reuters ~33%  ·  raw GPT-4 ~43%     Stanford RegLab / HAI, J. Empirical Legal Studies,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1">
                <a:solidFill>
                  <a:srgbClr val="1A5F7A"/>
                </a:solidFill>
                <a:latin typeface="Segoe UI"/>
              </a:rPr>
              <a:t>Our answer to that is architectural, not rhetorical.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9EC5D4"/>
                </a:solidFill>
                <a:latin typeface="Segoe UI"/>
              </a:rPr>
              <a:t>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It doesn't trust itself either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9EC5D4"/>
                </a:solidFill>
                <a:latin typeface="Segoe UI"/>
              </a:rPr>
              <a:t>Upload an invoice  →  fields extracted  →  arithmetic checked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1">
                <a:solidFill>
                  <a:srgbClr val="F0A87A"/>
                </a:solidFill>
                <a:latin typeface="Segoe UI"/>
              </a:rPr>
              <a:t>subtotal 13,290.00  +  VAT 664.50  ≠  total 14,254.50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Flagged for human review — not silently accepted.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1">
                <a:solidFill>
                  <a:srgbClr val="1A5F7A"/>
                </a:solidFill>
                <a:latin typeface="Segoe UI"/>
              </a:rP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828800" cy="50292"/>
          </a:xfrm>
          <a:prstGeom prst="rect">
            <a:avLst/>
          </a:prstGeom>
          <a:solidFill>
            <a:srgbClr val="1A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383280" cy="182880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0F2A3D"/>
                </a:solidFill>
                <a:latin typeface="Segoe UI"/>
              </a:rP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000" b="1">
                <a:solidFill>
                  <a:srgbClr val="0F2A3D"/>
                </a:solidFill>
                <a:latin typeface="Segoe UI"/>
              </a:rPr>
              <a:t>AED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5C6773"/>
                </a:solidFill>
                <a:latin typeface="Segoe UI"/>
              </a:rPr>
              <a:t>A few questions a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11680"/>
            <a:ext cx="3383280" cy="1828800"/>
          </a:xfrm>
          <a:prstGeom prst="roundRect">
            <a:avLst/>
          </a:prstGeom>
          <a:solidFill>
            <a:srgbClr val="1A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697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AED 149/mo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D5E5EC"/>
                </a:solidFill>
                <a:latin typeface="Segoe UI"/>
              </a:rPr>
              <a:t>The SME 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011680"/>
            <a:ext cx="3383280" cy="1828800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0F2A3D"/>
                </a:solidFill>
                <a:latin typeface="Segoe UI"/>
              </a:rP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697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000" b="1">
                <a:solidFill>
                  <a:srgbClr val="0F2A3D"/>
                </a:solidFill>
                <a:latin typeface="Segoe UI"/>
              </a:rPr>
              <a:t>AED 399/mo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5C6773"/>
                </a:solidFill>
                <a:latin typeface="Segoe UI"/>
              </a:rPr>
              <a:t>The accountant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0F2A3D"/>
                </a:solidFill>
                <a:latin typeface="Segoe UI"/>
              </a:rPr>
              <a:t>The white space is real: software sits at AED 57–349, humans at AED 800–3,000.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5C6773"/>
                </a:solidFill>
                <a:latin typeface="Segoe UI"/>
              </a:rPr>
              <a:t>Nobody prices between them — and nobody offers cited legal Q&amp;A (verified 20 Jul 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1">
                <a:solidFill>
                  <a:srgbClr val="1A5F7A"/>
                </a:solidFill>
                <a:latin typeface="Segoe UI"/>
              </a:rPr>
              <a:t>Why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828800" cy="50292"/>
          </a:xfrm>
          <a:prstGeom prst="rect">
            <a:avLst/>
          </a:prstGeom>
          <a:solidFill>
            <a:srgbClr val="1A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0F2A3D"/>
                </a:solidFill>
                <a:latin typeface="Segoe UI"/>
              </a:rPr>
              <a:t>E-invoicing becomes mandatory for every SME below AED 50M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100" b="1">
                <a:solidFill>
                  <a:srgbClr val="B45309"/>
                </a:solidFill>
                <a:latin typeface="Segoe UI"/>
              </a:rPr>
              <a:t>31 Mar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0">
                <a:solidFill>
                  <a:srgbClr val="5C6773"/>
                </a:solidFill>
                <a:latin typeface="Segoe UI"/>
              </a:rPr>
              <a:t>Accredited Service Provider appointed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100" b="1">
                <a:solidFill>
                  <a:srgbClr val="B45309"/>
                </a:solidFill>
                <a:latin typeface="Segoe UI"/>
              </a:rPr>
              <a:t>1 Jul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97763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0">
                <a:solidFill>
                  <a:srgbClr val="5C6773"/>
                </a:solidFill>
                <a:latin typeface="Segoe UI"/>
              </a:rPr>
              <a:t>Phase 2 goes live — all our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100" b="1">
                <a:solidFill>
                  <a:srgbClr val="B45309"/>
                </a:solidFill>
                <a:latin typeface="Segoe UI"/>
              </a:rPr>
              <a:t>1 Oct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754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0">
                <a:solidFill>
                  <a:srgbClr val="5C6773"/>
                </a:solidFill>
                <a:latin typeface="Segoe UI"/>
              </a:rPr>
              <a:t>Government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1A5F7A"/>
                </a:solidFill>
                <a:latin typeface="Segoe UI"/>
              </a:rPr>
              <a:t>A new, unfamiliar obligation for every SME — on a legislated timetable.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1">
                <a:solidFill>
                  <a:srgbClr val="1A5F7A"/>
                </a:solidFill>
                <a:latin typeface="Segoe UI"/>
              </a:rPr>
              <a:t>What we don't claim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828800" cy="50292"/>
          </a:xfrm>
          <a:prstGeom prst="rect">
            <a:avLst/>
          </a:prstGeom>
          <a:solidFill>
            <a:srgbClr val="1A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900">
                <a:solidFill>
                  <a:srgbClr val="0F2A3D"/>
                </a:solidFill>
                <a:latin typeface="Segoe UI"/>
              </a:rPr>
              <a:t>•   No professionally validated golden set yet — our QA is internal, human-verified against the primary law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900">
                <a:solidFill>
                  <a:srgbClr val="0F2A3D"/>
                </a:solidFill>
                <a:latin typeface="Segoe UI"/>
              </a:rPr>
              <a:t>•   No primary customer interviews yet — demand evidence is secondary, and labelled as such throughout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900">
                <a:solidFill>
                  <a:srgbClr val="0F2A3D"/>
                </a:solidFill>
                <a:latin typeface="Segoe UI"/>
              </a:rPr>
              <a:t>•   No licensed tax professional on the team — a retained advisor is a budgeted pre-seed hire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900">
                <a:solidFill>
                  <a:srgbClr val="0F2A3D"/>
                </a:solidFill>
                <a:latin typeface="Segoe UI"/>
              </a:rPr>
              <a:t>•   Billing, Arabic and e-invoicing are on the roadmap, not in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1">
                <a:solidFill>
                  <a:srgbClr val="1A5F7A"/>
                </a:solidFill>
                <a:latin typeface="Segoe UI"/>
              </a:rPr>
              <a:t>A plan that is explicit about what it hasn't validated is worth more than one that isn't.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1">
                <a:solidFill>
                  <a:srgbClr val="1A5F7A"/>
                </a:solidFill>
                <a:latin typeface="Segoe UI"/>
              </a:rPr>
              <a:t>Where this goes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828800" cy="50292"/>
          </a:xfrm>
          <a:prstGeom prst="rect">
            <a:avLst/>
          </a:prstGeom>
          <a:solidFill>
            <a:srgbClr val="1A5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1">
                <a:solidFill>
                  <a:srgbClr val="1A5F7A"/>
                </a:solidFill>
                <a:latin typeface="Segoe UI"/>
              </a:rPr>
              <a:t>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920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0F2A3D"/>
                </a:solidFill>
                <a:latin typeface="Segoe UI"/>
              </a:rPr>
              <a:t>Working MVP — cited Q&amp;A, abstention, invoice checking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1">
                <a:solidFill>
                  <a:srgbClr val="1A5F7A"/>
                </a:solidFill>
                <a:latin typeface="Segoe UI"/>
              </a:rPr>
              <a:t>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697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0F2A3D"/>
                </a:solidFill>
                <a:latin typeface="Segoe UI"/>
              </a:rPr>
              <a:t>25-company pilot: validate willingness to pay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1">
                <a:solidFill>
                  <a:srgbClr val="1A5F7A"/>
                </a:solidFill>
                <a:latin typeface="Segoe UI"/>
              </a:rPr>
              <a:t>Jan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0F2A3D"/>
                </a:solidFill>
                <a:latin typeface="Segoe UI"/>
              </a:rPr>
              <a:t>Commercial launch with billing and published evals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1">
                <a:solidFill>
                  <a:srgbClr val="1A5F7A"/>
                </a:solidFill>
                <a:latin typeface="Segoe UI"/>
              </a:rPr>
              <a:t>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251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0F2A3D"/>
                </a:solidFill>
                <a:latin typeface="Segoe UI"/>
              </a:rPr>
              <a:t>Arabic, hybrid retrieval, e-invoicing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1">
                <a:solidFill>
                  <a:srgbClr val="1A5F7A"/>
                </a:solidFill>
                <a:latin typeface="Segoe UI"/>
              </a:rPr>
              <a:t>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029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900" b="0">
                <a:solidFill>
                  <a:srgbClr val="0F2A3D"/>
                </a:solidFill>
                <a:latin typeface="Segoe UI"/>
              </a:rPr>
              <a:t>Accountant channel at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5C6773"/>
                </a:solidFill>
                <a:latin typeface="Segoe UI"/>
              </a:rPr>
              <a:t>Next step: recruit the pilot cohort and complete 20 customer interviews by 30 September 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Cite, or say nothing.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749039"/>
            <a:ext cx="2011680" cy="50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9EC5D4"/>
                </a:solidFill>
                <a:latin typeface="Segoe UI"/>
              </a:rPr>
              <a:t>ميزان  Mizan  —  compliance assistance, not tax advice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